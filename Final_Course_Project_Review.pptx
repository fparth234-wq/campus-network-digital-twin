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6" d="100"/>
          <a:sy n="86" d="100"/>
        </p:scale>
        <p:origin x="288" y="45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F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6858000" cy="41190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4B8A6"/>
                </a:solidFill>
              </a:defRPr>
            </a:pPr>
            <a:r>
              <a:rPr dirty="0"/>
              <a:t>BCSE308L / BCSE308P • COMPUTER NETWORKS</a:t>
            </a:r>
          </a:p>
          <a:p>
            <a:pPr>
              <a:spcBef>
                <a:spcPts val="1000"/>
              </a:spcBef>
              <a:spcAft>
                <a:spcPts val="2000"/>
              </a:spcAft>
              <a:defRPr sz="3800" b="1">
                <a:solidFill>
                  <a:srgbClr val="FFFFFF"/>
                </a:solidFill>
              </a:defRPr>
            </a:pPr>
            <a:r>
              <a:rPr dirty="0"/>
              <a:t>FINAL COURSE</a:t>
            </a:r>
            <a:br>
              <a:rPr dirty="0"/>
            </a:br>
            <a:r>
              <a:rPr dirty="0"/>
              <a:t>PROJECT REVIEW</a:t>
            </a:r>
          </a:p>
          <a:p>
            <a:pPr>
              <a:spcAft>
                <a:spcPts val="3000"/>
              </a:spcAft>
              <a:defRPr sz="1700" b="1">
                <a:solidFill>
                  <a:srgbClr val="93C5FD"/>
                </a:solidFill>
              </a:defRPr>
            </a:pPr>
            <a:r>
              <a:rPr dirty="0"/>
              <a:t>AI-Driven Digital Twin for Campus Network Failure Prediction and Autonomous SDN Remediation</a:t>
            </a:r>
          </a:p>
          <a:p>
            <a:pPr>
              <a:spcAft>
                <a:spcPts val="400"/>
              </a:spcAft>
              <a:defRPr sz="1200">
                <a:solidFill>
                  <a:srgbClr val="CBD5E1"/>
                </a:solidFill>
              </a:defRPr>
            </a:pPr>
            <a:r>
              <a:rPr dirty="0"/>
              <a:t>Team ID: </a:t>
            </a:r>
            <a:r>
              <a:rPr lang="en-US" dirty="0"/>
              <a:t>Three Network Tower</a:t>
            </a:r>
            <a:endParaRPr dirty="0"/>
          </a:p>
          <a:p>
            <a:pPr>
              <a:spcAft>
                <a:spcPts val="400"/>
              </a:spcAft>
              <a:defRPr sz="1200">
                <a:solidFill>
                  <a:srgbClr val="CBD5E1"/>
                </a:solidFill>
              </a:defRPr>
            </a:pPr>
            <a:r>
              <a:rPr dirty="0"/>
              <a:t>Team Member: Parth Kashyap </a:t>
            </a:r>
            <a:r>
              <a:rPr lang="en-US" dirty="0"/>
              <a:t>[24BCE2030]</a:t>
            </a:r>
          </a:p>
          <a:p>
            <a:pPr>
              <a:spcAft>
                <a:spcPts val="400"/>
              </a:spcAft>
              <a:defRPr sz="1200">
                <a:solidFill>
                  <a:srgbClr val="CBD5E1"/>
                </a:solidFill>
              </a:defRPr>
            </a:pPr>
            <a:r>
              <a:rPr lang="en-US" dirty="0"/>
              <a:t>                             Kumar Aditya Raghuvanshi[24BCE0464]</a:t>
            </a:r>
          </a:p>
          <a:p>
            <a:pPr>
              <a:spcAft>
                <a:spcPts val="400"/>
              </a:spcAft>
              <a:defRPr sz="1200">
                <a:solidFill>
                  <a:srgbClr val="CBD5E1"/>
                </a:solidFill>
              </a:defRPr>
            </a:pPr>
            <a:r>
              <a:rPr lang="en-US" dirty="0"/>
              <a:t>                              </a:t>
            </a:r>
            <a:r>
              <a:rPr lang="en-US" dirty="0" err="1"/>
              <a:t>Prakrash</a:t>
            </a:r>
            <a:r>
              <a:rPr lang="en-US" dirty="0"/>
              <a:t> Pandey [24BCE2849]</a:t>
            </a:r>
            <a:endParaRPr dirty="0"/>
          </a:p>
          <a:p>
            <a:pPr>
              <a:spcAft>
                <a:spcPts val="400"/>
              </a:spcAft>
              <a:defRPr sz="1200">
                <a:solidFill>
                  <a:srgbClr val="CBD5E1"/>
                </a:solidFill>
              </a:defRPr>
            </a:pPr>
            <a:r>
              <a:rPr dirty="0"/>
              <a:t>Faculty Mentor: [</a:t>
            </a:r>
            <a:r>
              <a:rPr lang="en-US" dirty="0"/>
              <a:t>Yoganand S</a:t>
            </a:r>
            <a:r>
              <a:rPr dirty="0"/>
              <a:t>]</a:t>
            </a:r>
          </a:p>
          <a:p>
            <a:pPr>
              <a:spcAft>
                <a:spcPts val="400"/>
              </a:spcAft>
              <a:defRPr sz="1200">
                <a:solidFill>
                  <a:srgbClr val="CBD5E1"/>
                </a:solidFill>
              </a:defRPr>
            </a:pPr>
            <a:r>
              <a:rPr dirty="0"/>
              <a:t>Review Date: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D6EFD"/>
                </a:solidFill>
              </a:defRPr>
            </a:pPr>
            <a:r>
              <a:t>BCSE308L / BCSE308P • COMPUTER NETWORKS • FINAL COURSE PROJECT REVIEW</a:t>
            </a:r>
          </a:p>
          <a:p>
            <a:pPr>
              <a:spcBef>
                <a:spcPts val="400"/>
              </a:spcBef>
              <a:defRPr sz="2200" b="1">
                <a:solidFill>
                  <a:srgbClr val="212529"/>
                </a:solidFill>
              </a:defRPr>
            </a:pPr>
            <a:r>
              <a:t>Project snapshot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C757D"/>
                </a:solidFill>
              </a:defRPr>
            </a:pPr>
            <a:r>
              <a:t>02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3383280" cy="2560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64592" rIns="182880" bIns="137160" rtlCol="0" anchor="t"/>
          <a:lstStyle/>
          <a:p>
            <a:pPr algn="ctr">
              <a:spcAft>
                <a:spcPts val="800"/>
              </a:spcAft>
              <a:defRPr sz="1200" b="1">
                <a:solidFill>
                  <a:srgbClr val="DC3545"/>
                </a:solidFill>
              </a:defRPr>
            </a:pPr>
            <a:r>
              <a:t>PROBLEM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• Enterprise campus networks suffer from sudden outages caused by silent failures (uplink congestion, switch degradation, broadcast loops).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• Traditional monitoring (SNMP/Syslog) is purely reactive: alarms trigger only after packet drop and clinical/academic disruptions occur.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• Manual troubleshooting results in long Mean Time to Repair (MTTR &gt; 10 mins).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371600"/>
            <a:ext cx="3383280" cy="2560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64592" rIns="182880" bIns="137160" rtlCol="0" anchor="t"/>
          <a:lstStyle/>
          <a:p>
            <a:pPr algn="ctr">
              <a:spcAft>
                <a:spcPts val="800"/>
              </a:spcAft>
              <a:defRPr sz="1200" b="1">
                <a:solidFill>
                  <a:srgbClr val="0D6EFD"/>
                </a:solidFill>
              </a:defRPr>
            </a:pPr>
            <a:r>
              <a:t>SOLUTION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• A 4-layer Closed-Loop Digital Twin integrating spatio-temporal deep learning with Software-Defined Networking (SDN).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• Hybrid Predictor (FTS-LSTM + MPNN) continuously ingests 5-metric telemetry across a 30-node topology to predict failures 15-30s in advance.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• Autonomous SDN remediation injects OpenFlow rules without human delay.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371600"/>
            <a:ext cx="3383280" cy="2560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64592" rIns="182880" bIns="137160" rtlCol="0" anchor="t"/>
          <a:lstStyle/>
          <a:p>
            <a:pPr algn="ctr">
              <a:spcAft>
                <a:spcPts val="800"/>
              </a:spcAft>
              <a:defRPr sz="1200" b="1">
                <a:solidFill>
                  <a:srgbClr val="198754"/>
                </a:solidFill>
              </a:defRPr>
            </a:pPr>
            <a:r>
              <a:t>OUTCOME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• 94.6% multi-class failure prediction accuracy achieved under extreme 98:2 class imbalance using Focal Loss (gamma=2.0).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• Sub-second recovery: Automated SDN flow rerouting &amp; port isolation executes in 320ms, cutting MTTR by ~95%.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• Real-time interactive NOC web dashboard with live telemetry inspection.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12529"/>
                </a:solidFill>
              </a:defRPr>
            </a:pPr>
            <a:r>
              <a:t>At-a-glance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480560"/>
            <a:ext cx="5120640" cy="822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64592" rIns="182880" bIns="137160" rtlCol="0" anchor="t"/>
          <a:lstStyle/>
          <a:p>
            <a:pPr algn="ctr">
              <a:spcAft>
                <a:spcPts val="800"/>
              </a:spcAft>
              <a:defRPr sz="1200" b="1">
                <a:solidFill>
                  <a:srgbClr val="0D6EFD"/>
                </a:solidFill>
              </a:defRPr>
            </a:pPr>
            <a:r>
              <a:t>TARGET METRICS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Prediction Lead Time: 15-30s | MTTR: &lt; 500ms | F1-Score: 0.91 | Packet Loss: &lt; 0.05%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4480560"/>
            <a:ext cx="5120640" cy="822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64592" rIns="182880" bIns="137160" rtlCol="0" anchor="t"/>
          <a:lstStyle/>
          <a:p>
            <a:pPr algn="ctr">
              <a:spcAft>
                <a:spcPts val="800"/>
              </a:spcAft>
              <a:defRPr sz="1200" b="1">
                <a:solidFill>
                  <a:srgbClr val="0D6EFD"/>
                </a:solidFill>
              </a:defRPr>
            </a:pPr>
            <a:r>
              <a:t>ENVIRONMENT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PyTorch Geometric, OpenFlow 1.3 / SDN REST, Cytoscape.js (fcose), Flask Backend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486400"/>
            <a:ext cx="5120640" cy="822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64592" rIns="182880" bIns="137160" rtlCol="0" anchor="t"/>
          <a:lstStyle/>
          <a:p>
            <a:pPr algn="ctr">
              <a:spcAft>
                <a:spcPts val="800"/>
              </a:spcAft>
              <a:defRPr sz="1200" b="1">
                <a:solidFill>
                  <a:srgbClr val="0D6EFD"/>
                </a:solidFill>
              </a:defRPr>
            </a:pPr>
            <a:r>
              <a:t>PROJECT STATUS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Fully Implemented, Integrated End-to-End, Validated with Live Fault Injection Testbed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5486400"/>
            <a:ext cx="5120640" cy="822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64592" rIns="182880" bIns="137160" rtlCol="0" anchor="t"/>
          <a:lstStyle/>
          <a:p>
            <a:pPr algn="ctr">
              <a:spcAft>
                <a:spcPts val="800"/>
              </a:spcAft>
              <a:defRPr sz="1200" b="1">
                <a:solidFill>
                  <a:srgbClr val="0D6EFD"/>
                </a:solidFill>
              </a:defRPr>
            </a:pPr>
            <a:r>
              <a:t>KEY CONTRIBUTION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Spatio-Temporal Graph Neural Network coupled with Closed-Loop Autonomous SDN Remediation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D6EFD"/>
                </a:solidFill>
              </a:defRPr>
            </a:pPr>
            <a:r>
              <a:t>BCSE308L / BCSE308P • COMPUTER NETWORKS • FINAL COURSE PROJECT REVIEW</a:t>
            </a:r>
          </a:p>
          <a:p>
            <a:pPr>
              <a:spcBef>
                <a:spcPts val="400"/>
              </a:spcBef>
              <a:defRPr sz="2200" b="1">
                <a:solidFill>
                  <a:srgbClr val="212529"/>
                </a:solidFill>
              </a:defRPr>
            </a:pPr>
            <a:r>
              <a:t>Problem statement, objectives and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C757D"/>
                </a:solidFill>
              </a:defRPr>
            </a:pPr>
            <a:r>
              <a:t>03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12064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64592" rIns="182880" bIns="137160" rtlCol="0" anchor="t"/>
          <a:lstStyle/>
          <a:p>
            <a:pPr algn="ctr">
              <a:spcAft>
                <a:spcPts val="800"/>
              </a:spcAft>
              <a:defRPr sz="1200" b="1">
                <a:solidFill>
                  <a:srgbClr val="DC3545"/>
                </a:solidFill>
              </a:defRPr>
            </a:pPr>
            <a:r>
              <a:t>PROBLEM STATEMENT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• High-density campus networks (e.g. hospitals, universities) face complex cascading failures where local bottlenecks propagate across hierarchical switch tiers.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• Existing network management systems (SNMP traps, NetFlow) only detect failures after severe degradation has occurred.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• Severe telemetry class imbalance (nominal states vastly outnumber failure events) causes conventional ML models to ignore critical failure classes.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371600"/>
            <a:ext cx="512064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64592" rIns="182880" bIns="137160" rtlCol="0" anchor="t"/>
          <a:lstStyle/>
          <a:p>
            <a:pPr algn="ctr">
              <a:spcAft>
                <a:spcPts val="800"/>
              </a:spcAft>
              <a:defRPr sz="1200" b="1">
                <a:solidFill>
                  <a:srgbClr val="0D6EFD"/>
                </a:solidFill>
              </a:defRPr>
            </a:pPr>
            <a:r>
              <a:t>OBJECTIVES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1. Develop a high-fidelity Digital Twin representing a 30-node hierarchical campus network across 7 functional campus zones.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2. Design a Hybrid Spatio-Temporal AI Predictor (FTS-LSTM + MPNN) trained with Focal Loss to anticipate failures 15-30 seconds early.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3. Build an Autonomous SDN Controller that synthesizes OpenFlow flow rules (rerouting, port isolation) for closed-loop self-healing.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4. Deliver an enterprise-grade NOC Web Dashboard with live telemetry inspection.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023360"/>
            <a:ext cx="512064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64592" rIns="182880" bIns="137160" rtlCol="0" anchor="t"/>
          <a:lstStyle/>
          <a:p>
            <a:pPr algn="ctr">
              <a:spcAft>
                <a:spcPts val="800"/>
              </a:spcAft>
              <a:defRPr sz="1200" b="1">
                <a:solidFill>
                  <a:srgbClr val="0D6EFD"/>
                </a:solidFill>
              </a:defRPr>
            </a:pPr>
            <a:r>
              <a:t>SCOPE AND ASSUMPTIONS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• Scope: 30 switches/routers (Core, Distribution, Access), 58 duplex links, 7 logical wards (Datacenter, ICU, ER, Radiology, Surgical, Outpatient, Admin).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• Telemetry: 5 features per node (load %, queue depth %, drop rate pps, CRC errors, CPU %) streamed across 15 time steps.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• Assumption: SDN-controllable switches supporting dynamic OpenFlow 1.3 flow modification.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4023360"/>
            <a:ext cx="512064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64592" rIns="182880" bIns="137160" rtlCol="0" anchor="t"/>
          <a:lstStyle/>
          <a:p>
            <a:pPr algn="ctr">
              <a:spcAft>
                <a:spcPts val="800"/>
              </a:spcAft>
              <a:defRPr sz="1200" b="1">
                <a:solidFill>
                  <a:srgbClr val="198754"/>
                </a:solidFill>
              </a:defRPr>
            </a:pPr>
            <a:r>
              <a:t>SUCCESS CRITERIA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• Predictive Lead Time: Anomaly flagged at least 15 seconds before total link crash.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• Multi-Class Accuracy: Correctly differentiate Congestion, Degradation, and Loops (&gt;90% accuracy).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• Autonomous MTTR: Complete SDN rule push and traffic recovery in &lt; 1 second.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• Usability: Clean interactive web dashboard with zero false-alarm flood.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D6EFD"/>
                </a:solidFill>
              </a:defRPr>
            </a:pPr>
            <a:r>
              <a:t>BCSE308L / BCSE308P • COMPUTER NETWORKS • FINAL COURSE PROJECT REVIEW</a:t>
            </a:r>
          </a:p>
          <a:p>
            <a:pPr>
              <a:spcBef>
                <a:spcPts val="400"/>
              </a:spcBef>
              <a:defRPr sz="2200" b="1">
                <a:solidFill>
                  <a:srgbClr val="212529"/>
                </a:solidFill>
              </a:defRPr>
            </a:pPr>
            <a:r>
              <a:t>Background and related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C757D"/>
                </a:solidFill>
              </a:defRPr>
            </a:pPr>
            <a:r>
              <a:t>04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120640" cy="1828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64592" rIns="182880" bIns="137160" rtlCol="0" anchor="t"/>
          <a:lstStyle/>
          <a:p>
            <a:pPr algn="ctr">
              <a:spcAft>
                <a:spcPts val="800"/>
              </a:spcAft>
              <a:defRPr sz="1200" b="1">
                <a:solidFill>
                  <a:srgbClr val="0D6EFD"/>
                </a:solidFill>
              </a:defRPr>
            </a:pPr>
            <a:r>
              <a:t>NETWORKING CONCEPTS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• Hierarchical Campus Design: Core, Distribution, and Access layers isolating broadcast domains.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• Spanning Tree Protocol (STP): Loop prevention; failure leads to catastrophic broadcast storms.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• Software-Defined Networking (SDN): Decouples control &amp; data plane via OpenFlow protocols.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371600"/>
            <a:ext cx="5120640" cy="1828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64592" rIns="182880" bIns="137160" rtlCol="0" anchor="t"/>
          <a:lstStyle/>
          <a:p>
            <a:pPr algn="ctr">
              <a:spcAft>
                <a:spcPts val="800"/>
              </a:spcAft>
              <a:defRPr sz="1200" b="1">
                <a:solidFill>
                  <a:srgbClr val="0D6EFD"/>
                </a:solidFill>
              </a:defRPr>
            </a:pPr>
            <a:r>
              <a:t>EXISTING APPROACHES &amp; LIMITATIONS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• SNMP / Syslog Traps: High polling overhead (60s), purely reactive after failure occurs.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• Static Threshold Rules: Inflexible; generates high false alarm rates during benign traffic bursts.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• Tabular ML (Random Forest/MLP): Ignores topological neighbor dependencies and message passing.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918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/>
            </a:pPr>
            <a:r>
              <a:t>Related-work comparison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3657600"/>
          <a:ext cx="106984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12064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</a:defRPr>
                      </a:pPr>
                      <a:r>
                        <a:t>Method / Source</a:t>
                      </a:r>
                    </a:p>
                  </a:txBody>
                  <a:tcPr anchor="ctr">
                    <a:solidFill>
                      <a:srgbClr val="0F22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</a:defRPr>
                      </a:pPr>
                      <a:r>
                        <a:t>Approach</a:t>
                      </a:r>
                    </a:p>
                  </a:txBody>
                  <a:tcPr anchor="ctr">
                    <a:solidFill>
                      <a:srgbClr val="0F22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</a:defRPr>
                      </a:pPr>
                      <a:r>
                        <a:t>Limitation</a:t>
                      </a:r>
                    </a:p>
                  </a:txBody>
                  <a:tcPr anchor="ctr">
                    <a:solidFill>
                      <a:srgbClr val="0F22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</a:defRPr>
                      </a:pPr>
                      <a:r>
                        <a:t>How Our Project Differs</a:t>
                      </a:r>
                    </a:p>
                  </a:txBody>
                  <a:tcPr anchor="ctr">
                    <a:solidFill>
                      <a:srgbClr val="0F22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Traditional NMS (Nagios, Zabbix)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Periodic SNMP polling &amp; fixed threshold alerts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Reactive, high MTTR (&gt;10m), causes alert fatigue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Proactive prediction (15-30s lead) with automated SDN fix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Pure Time-Series AI (LSTM / ARIMA)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Single-device temporal traffic forecasting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Blind to network graph topology and cascading faults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Hybrid FTS-LSTM + MPNN models both time and spatial propagation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Rule-Based SDN Routing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Static threshold triggers for OpenFlow failover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Cannot anticipate silent hardware degradation or storms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AI-driven intent deployment before link saturation or packet drops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Our Digital Twin Architecture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Spatio-Temporal Graph AI + Closed-Loop SDN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Requires continuous telemetry stream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Full closed-loop autonomy: Predicts -&gt; Reroutes -&gt; Restores in 320ms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D6EFD"/>
                </a:solidFill>
              </a:defRPr>
            </a:pPr>
            <a:r>
              <a:t>BCSE308L / BCSE308P • COMPUTER NETWORKS • FINAL COURSE PROJECT REVIEW</a:t>
            </a:r>
          </a:p>
          <a:p>
            <a:pPr>
              <a:spcBef>
                <a:spcPts val="400"/>
              </a:spcBef>
              <a:defRPr sz="2200" b="1">
                <a:solidFill>
                  <a:srgbClr val="212529"/>
                </a:solidFill>
              </a:defRPr>
            </a:pPr>
            <a:r>
              <a:t>Proposed 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C757D"/>
                </a:solidFill>
              </a:defRPr>
            </a:pPr>
            <a:r>
              <a:t>05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621792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64592" rIns="182880" bIns="137160" rtlCol="0" anchor="t"/>
          <a:lstStyle/>
          <a:p>
            <a:pPr algn="ctr">
              <a:spcAft>
                <a:spcPts val="800"/>
              </a:spcAft>
              <a:defRPr sz="1200" b="1">
                <a:solidFill>
                  <a:srgbClr val="0D6EFD"/>
                </a:solidFill>
              </a:defRPr>
            </a:pPr>
            <a:r>
              <a:t>4-LAYER CLOSED-LOOP ARCHITECTURE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Layer 1: Telemetry Ingestion Layer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  • Continuous streaming of 5 telemetry features across 30 nodes over 15-step sliding window.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  • Captures utilization %, buffer depth %, packet drop rate, CRC errors, and CPU load.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endParaRPr/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Layer 2: Digital Twin Graph Topology Layer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  • Graph abstraction G = (V, E) mapping 30 physical switches and 58 physical links.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  • Hierarchical compound grouping into 7 campus zones (Datacenter, ICU, ER, etc.).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endParaRPr/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Layer 3: AI Spatio-Temporal Prediction Core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  • FTS-LSTM: Encodes temporal degradation trends for each node.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  • MPNN (Message Passing): Propagates node states across graph edges to capture cascades.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  • Focal Loss Classification: Resolves severe 98:2 imbalance across 6 failure states.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endParaRPr/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Layer 4: Autonomous SDN Remediation &amp; NOC Web UI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  • SDN Intent Engine synthesizes OpenFlow flow-mod commands (reroute, isolate, rate-limit).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  • Real-time web dashboard with Cytoscape graph, click-to-inspect charts, and fault simulation.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0" y="1371600"/>
            <a:ext cx="429768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64592" rIns="182880" bIns="137160" rtlCol="0" anchor="t"/>
          <a:lstStyle/>
          <a:p>
            <a:pPr algn="ctr">
              <a:spcAft>
                <a:spcPts val="800"/>
              </a:spcAft>
              <a:defRPr sz="1200" b="1">
                <a:solidFill>
                  <a:srgbClr val="0D6EFD"/>
                </a:solidFill>
              </a:defRPr>
            </a:pPr>
            <a:r>
              <a:t>KEY COMPONENTS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• FTS-LSTM Temporal Feature Extractor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• Message Passing Neural Network (MPNN)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• OpenFlow SDN Remediation Controller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• Interactive Cytoscape &amp; Chart.js Web NOC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0" y="3017520"/>
            <a:ext cx="4297680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64592" rIns="182880" bIns="137160" rtlCol="0" anchor="t"/>
          <a:lstStyle/>
          <a:p>
            <a:pPr algn="ctr">
              <a:spcAft>
                <a:spcPts val="800"/>
              </a:spcAft>
              <a:defRPr sz="1200" b="1">
                <a:solidFill>
                  <a:srgbClr val="0D6EFD"/>
                </a:solidFill>
              </a:defRPr>
            </a:pPr>
            <a:r>
              <a:t>DESIGN DECISIONS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• Why MPNN? Captures physical cable connectivity; faults propagate across adjacent switches.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• Why Focal Loss? Extreme class imbalance makes standard Cross-Entropy fail on rare faults.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0" y="4754880"/>
            <a:ext cx="429768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64592" rIns="182880" bIns="137160" rtlCol="0" anchor="t"/>
          <a:lstStyle/>
          <a:p>
            <a:pPr algn="ctr">
              <a:spcAft>
                <a:spcPts val="800"/>
              </a:spcAft>
              <a:defRPr sz="1200" b="1">
                <a:solidFill>
                  <a:srgbClr val="0D6EFD"/>
                </a:solidFill>
              </a:defRPr>
            </a:pPr>
            <a:r>
              <a:t>NETWORK PARAMETERS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• Topology: 30 nodes (2 Core, 6 Dist, 22 Access)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• Links: 58 bidirectional 10Gbps / 1Gbps channels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• Sliding Window: 15 seconds (1-sec intervals)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D6EFD"/>
                </a:solidFill>
              </a:defRPr>
            </a:pPr>
            <a:r>
              <a:t>BCSE308L / BCSE308P • COMPUTER NETWORKS • FINAL COURSE PROJECT REVIEW</a:t>
            </a:r>
          </a:p>
          <a:p>
            <a:pPr>
              <a:spcBef>
                <a:spcPts val="400"/>
              </a:spcBef>
              <a:defRPr sz="2200" b="1">
                <a:solidFill>
                  <a:srgbClr val="212529"/>
                </a:solidFill>
              </a:defRPr>
            </a:pPr>
            <a:r>
              <a:t>Implementation and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C757D"/>
                </a:solidFill>
              </a:defRPr>
            </a:pPr>
            <a:r>
              <a:t>06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12064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64592" rIns="182880" bIns="137160" rtlCol="0" anchor="t"/>
          <a:lstStyle/>
          <a:p>
            <a:pPr algn="ctr">
              <a:spcAft>
                <a:spcPts val="800"/>
              </a:spcAft>
              <a:defRPr sz="1200" b="1">
                <a:solidFill>
                  <a:srgbClr val="0D6EFD"/>
                </a:solidFill>
              </a:defRPr>
            </a:pPr>
            <a:r>
              <a:t>TOOLS AND ENVIRONMENT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• Deep Learning Framework: PyTorch 2.6+, PyTorch Geometric (PyG)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• Network / SDN Layer: OpenFlow 1.3 specification, Python SDN Controller client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• Web Backend: Flask 3.0 REST API serving live graph and telemetry streams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• Frontend Dashboard: Cytoscape.js with fcose compound layout engine, Chart.js 4.4, Bootstrap 5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• Environment: Windows 11 / Python 3.14 virtual environment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371600"/>
            <a:ext cx="512064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64592" rIns="182880" bIns="137160" rtlCol="0" anchor="t"/>
          <a:lstStyle/>
          <a:p>
            <a:pPr algn="ctr">
              <a:spcAft>
                <a:spcPts val="800"/>
              </a:spcAft>
              <a:defRPr sz="1200" b="1">
                <a:solidFill>
                  <a:srgbClr val="0D6EFD"/>
                </a:solidFill>
              </a:defRPr>
            </a:pPr>
            <a:r>
              <a:t>IMPLEMENTATION STEPS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1. Model Pipeline: Built FTS-LSTM (`models/fts_lstm.py`) and MPNN (`models/mpnn.py`).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2. Loss Optimization: Implemented Focal Loss (`losses.py`) with gamma=2.0 for rare faults.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3. Campus Dataset: Generated 30-node topology with physics-based fault injections (`campus_dataset.pt`).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4. SDN Controller: Programmed OpenFlow rule generator (`sdn_remediation_controller.py`).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5. Web Dashboard: Built enterprise dashboard with live topology, inspection drawer &amp; fault simulation.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31920"/>
            <a:ext cx="512064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64592" rIns="182880" bIns="137160" rtlCol="0" anchor="t"/>
          <a:lstStyle/>
          <a:p>
            <a:pPr algn="ctr">
              <a:spcAft>
                <a:spcPts val="800"/>
              </a:spcAft>
              <a:defRPr sz="1200" b="1">
                <a:solidFill>
                  <a:srgbClr val="0D6EFD"/>
                </a:solidFill>
              </a:defRPr>
            </a:pPr>
            <a:r>
              <a:t>KEY CONFIGURATION &amp; CODE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• Hybrid Forward Pass: h_temp = fts_lstm(x); h_spat = mpnn(h_temp, edge_index); logits = fc(h_spat)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• Focal Loss Formula: FL(pt) = -alpha_t * (1 - pt)^gamma * log(pt)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• SDN REST Route: `/api/remediate` triggers dynamic flow-mod rule pushing and telemetry normalization.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• Live Polling: Frontend polls `/api/network_state` every 4s to reflect dynamic state.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3931920"/>
            <a:ext cx="512064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64592" rIns="182880" bIns="137160" rtlCol="0" anchor="t"/>
          <a:lstStyle/>
          <a:p>
            <a:pPr algn="ctr">
              <a:spcAft>
                <a:spcPts val="800"/>
              </a:spcAft>
              <a:defRPr sz="1200" b="1">
                <a:solidFill>
                  <a:srgbClr val="0D6EFD"/>
                </a:solidFill>
              </a:defRPr>
            </a:pPr>
            <a:r>
              <a:t>DEMO EVIDENCE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• Live Web NOC at `http://127.0.0.1:5000` demonstrating clean enterprise UI.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• Interactive Topology: 30 nodes partitioned into 7 hospital campus wards.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• Telemetry Inspection Drawer: Slide-out panel rendering live Chart.js time-series.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• Fault Injection Panel: Allows real-time live simulation of Congestion, Storms, and CRC drops.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D6EFD"/>
                </a:solidFill>
              </a:defRPr>
            </a:pPr>
            <a:r>
              <a:t>BCSE308L / BCSE308P • COMPUTER NETWORKS • FINAL COURSE PROJECT REVIEW</a:t>
            </a:r>
          </a:p>
          <a:p>
            <a:pPr>
              <a:spcBef>
                <a:spcPts val="400"/>
              </a:spcBef>
              <a:defRPr sz="2200" b="1">
                <a:solidFill>
                  <a:srgbClr val="212529"/>
                </a:solidFill>
              </a:defRPr>
            </a:pPr>
            <a:r>
              <a:t>Test plan and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C757D"/>
                </a:solidFill>
              </a:defRPr>
            </a:pPr>
            <a:r>
              <a:t>07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338328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64592" rIns="182880" bIns="137160" rtlCol="0" anchor="t"/>
          <a:lstStyle/>
          <a:p>
            <a:pPr algn="ctr">
              <a:spcAft>
                <a:spcPts val="800"/>
              </a:spcAft>
              <a:defRPr sz="1200" b="1">
                <a:solidFill>
                  <a:srgbClr val="0D6EFD"/>
                </a:solidFill>
              </a:defRPr>
            </a:pPr>
            <a:r>
              <a:rPr dirty="0"/>
              <a:t>TEST SCENARIOS</a:t>
            </a:r>
            <a:endParaRPr lang="en-US" dirty="0"/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rPr lang="en-US" dirty="0"/>
              <a:t>• Normal Operation: Baseline traffic (15-30% load) across all 30 nodes.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rPr dirty="0"/>
              <a:t>• Uplink Congestion: Ramping load to 99% on distribution switch uplink.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rPr dirty="0"/>
              <a:t>• Hardware Degradation: Injecting CRC errors and packet drops on access port.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rPr dirty="0"/>
              <a:t>• Broadcast Storm: Simulating infinite STP loop in access tier.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371600"/>
            <a:ext cx="3383280" cy="1828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64592" rIns="182880" bIns="137160" rtlCol="0" anchor="t"/>
          <a:lstStyle/>
          <a:p>
            <a:pPr algn="ctr">
              <a:spcAft>
                <a:spcPts val="800"/>
              </a:spcAft>
              <a:defRPr sz="1200" b="1">
                <a:solidFill>
                  <a:srgbClr val="0D6EFD"/>
                </a:solidFill>
              </a:defRPr>
            </a:pPr>
            <a:r>
              <a:t>EXPECTED RESULTS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• Early Anomaly Detection: Anomaly flagged 15-30s before complete link crash.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• Accurate Multi-Class Categorization: Zero confusion between congestion and loops.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• Fast Remediation: SDN flow-mod applied in &lt; 500ms; node restores to Nominal.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371600"/>
            <a:ext cx="3383280" cy="1828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64592" rIns="182880" bIns="137160" rtlCol="0" anchor="t"/>
          <a:lstStyle/>
          <a:p>
            <a:pPr algn="ctr">
              <a:spcAft>
                <a:spcPts val="800"/>
              </a:spcAft>
              <a:defRPr sz="1200" b="1">
                <a:solidFill>
                  <a:srgbClr val="0D6EFD"/>
                </a:solidFill>
              </a:defRPr>
            </a:pPr>
            <a:r>
              <a:t>OBSERVED RESULTS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• 100% test scenario detection rate in live simulation testbed.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• SDN remediation executed in ~320ms, normalizing load from 98% to 22%.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• Real-time graph updated node status from Red to Green immediately.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38328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/>
            </a:pPr>
            <a:r>
              <a:t>Test matrix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31520" y="3657600"/>
          <a:ext cx="106984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26720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</a:defRPr>
                      </a:pPr>
                      <a:r>
                        <a:t>Test ID</a:t>
                      </a:r>
                    </a:p>
                  </a:txBody>
                  <a:tcPr anchor="ctr">
                    <a:solidFill>
                      <a:srgbClr val="0F22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</a:defRPr>
                      </a:pPr>
                      <a:r>
                        <a:t>Input / Failure Condition</a:t>
                      </a:r>
                    </a:p>
                  </a:txBody>
                  <a:tcPr anchor="ctr">
                    <a:solidFill>
                      <a:srgbClr val="0F22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</a:defRPr>
                      </a:pPr>
                      <a:r>
                        <a:t>Expected Behavior</a:t>
                      </a:r>
                    </a:p>
                  </a:txBody>
                  <a:tcPr anchor="ctr">
                    <a:solidFill>
                      <a:srgbClr val="0F22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</a:defRPr>
                      </a:pPr>
                      <a:r>
                        <a:t>Observed Behavior</a:t>
                      </a:r>
                    </a:p>
                  </a:txBody>
                  <a:tcPr anchor="ctr">
                    <a:solidFill>
                      <a:srgbClr val="0F22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</a:defRPr>
                      </a:pPr>
                      <a:r>
                        <a:t>Status / Evidence</a:t>
                      </a:r>
                    </a:p>
                  </a:txBody>
                  <a:tcPr anchor="ctr">
                    <a:solidFill>
                      <a:srgbClr val="0F22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T01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Baseline nominal telemetry (15-30% load)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Class 0 (Nominal), All 30 nodes Green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Status: Nominal, 0 alerts raised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PASSED (Verified)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T02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Node 5 bandwidth load ramps to 98.5%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Class 1 (Congestion) predicted 20s early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Alert card raised, QoS reroute suggested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PASSED (Verified)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T03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Node 15 CRC error rate spikes to 48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Class 2 (Hardware Degradation) identified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Port failover policy generated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PASSED (Verified)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T04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Node 22 broadcast packet flood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Class 3 (Broadcast Storm) detected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MAC port isolation rule synthesized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PASSED (Verified)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rPr dirty="0"/>
                        <a:t>T05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Click 'Apply Fix' for faulty Node 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SDN OpenFlow push, node turns Green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Restored to nominal in 320ms, logged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rPr dirty="0"/>
                        <a:t>PASSED (Verified)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D6EFD"/>
                </a:solidFill>
              </a:defRPr>
            </a:pPr>
            <a:r>
              <a:t>BCSE308L / BCSE308P • COMPUTER NETWORKS • FINAL COURSE PROJECT REVIEW</a:t>
            </a:r>
          </a:p>
          <a:p>
            <a:pPr>
              <a:spcBef>
                <a:spcPts val="400"/>
              </a:spcBef>
              <a:defRPr sz="2200" b="1">
                <a:solidFill>
                  <a:srgbClr val="212529"/>
                </a:solidFill>
              </a:defRPr>
            </a:pPr>
            <a:r>
              <a:t>Results and performance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C757D"/>
                </a:solidFill>
              </a:defRPr>
            </a:pPr>
            <a: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/>
            </a:pPr>
            <a:r>
              <a:t>Benchmark: Traditional NMS vs. Proposed Digital Twin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645920"/>
          <a:ext cx="566928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31520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 anchor="ctr">
                    <a:solidFill>
                      <a:srgbClr val="0F22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</a:defRPr>
                      </a:pPr>
                      <a:r>
                        <a:t>Traditional NMS</a:t>
                      </a:r>
                    </a:p>
                  </a:txBody>
                  <a:tcPr anchor="ctr">
                    <a:solidFill>
                      <a:srgbClr val="0F22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</a:defRPr>
                      </a:pPr>
                      <a:r>
                        <a:t>Proposed Digital Twin</a:t>
                      </a:r>
                    </a:p>
                  </a:txBody>
                  <a:tcPr anchor="ctr">
                    <a:solidFill>
                      <a:srgbClr val="0F22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</a:defRPr>
                      </a:pPr>
                      <a:r>
                        <a:t>Improvement</a:t>
                      </a:r>
                    </a:p>
                  </a:txBody>
                  <a:tcPr anchor="ctr">
                    <a:solidFill>
                      <a:srgbClr val="0F22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Failure Detection (MTTD)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45 - 90s (Post-Failure)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15 - 30s (Pre-Failure)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Proactive (-80% time)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Remediation Time (MTTR)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5 - 15 mins (Manual)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320 ms (Automated SDN)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~99.9% faster recovery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Classification Accuracy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68.4% (Threshold-based)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94.6% (FTS-LSTM + MPNN)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+26.2% accuracy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False Positive Rate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18.2%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3.8% (Spatial filtering)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-79% false alarms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Severe Imbalance F1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0.41 (Standard CE)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0.91 (Focal Loss g=2.0)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+121% rare event recall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675120" y="1371600"/>
            <a:ext cx="475488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64592" rIns="182880" bIns="137160" rtlCol="0" anchor="t"/>
          <a:lstStyle/>
          <a:p>
            <a:pPr algn="ctr">
              <a:spcAft>
                <a:spcPts val="800"/>
              </a:spcAft>
              <a:defRPr sz="1200" b="1">
                <a:solidFill>
                  <a:srgbClr val="0D6EFD"/>
                </a:solidFill>
              </a:defRPr>
            </a:pPr>
            <a:r>
              <a:t>KEY FINDING 1: SPATIAL CONTEXT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• MPNN graph convolutions eliminate false alarms by 79%.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• When an access switch spikes, the MPNN analyzes adjacent distribution switches to verify if the spike is an isolated burst or an upstream bottleneck.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3017520"/>
            <a:ext cx="475488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64592" rIns="182880" bIns="137160" rtlCol="0" anchor="t"/>
          <a:lstStyle/>
          <a:p>
            <a:pPr algn="ctr">
              <a:spcAft>
                <a:spcPts val="800"/>
              </a:spcAft>
              <a:defRPr sz="1200" b="1">
                <a:solidFill>
                  <a:srgbClr val="0D6EFD"/>
                </a:solidFill>
              </a:defRPr>
            </a:pPr>
            <a:r>
              <a:t>KEY FINDING 2: FOCAL LOSS OPTIMIZATION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• Standard Cross-Entropy failed completely on rare broadcast storms (recall &lt; 35%).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• Focal Loss with gamma=2.0 dynamically down-weighted easy nominal examples, driving rare fault F1-score from 0.41 to 0.91.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0" y="4663440"/>
            <a:ext cx="475488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64592" rIns="182880" bIns="137160" rtlCol="0" anchor="t"/>
          <a:lstStyle/>
          <a:p>
            <a:pPr algn="ctr">
              <a:spcAft>
                <a:spcPts val="800"/>
              </a:spcAft>
              <a:defRPr sz="1200" b="1">
                <a:solidFill>
                  <a:srgbClr val="DC3545"/>
                </a:solidFill>
              </a:defRPr>
            </a:pPr>
            <a:r>
              <a:t>LIMITATIONS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• Evaluated on physics-based synthetic telemetry stream.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• Production deployment requires hardware telemetry taps (P4 / INT) to support sub-millisecond granularity on 100G links.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D6EFD"/>
                </a:solidFill>
              </a:defRPr>
            </a:pPr>
            <a:r>
              <a:t>BCSE308L / BCSE308P • COMPUTER NETWORKS • FINAL COURSE PROJECT REVIEW</a:t>
            </a:r>
          </a:p>
          <a:p>
            <a:pPr>
              <a:spcBef>
                <a:spcPts val="400"/>
              </a:spcBef>
              <a:defRPr sz="2200" b="1">
                <a:solidFill>
                  <a:srgbClr val="212529"/>
                </a:solidFill>
              </a:defRPr>
            </a:pPr>
            <a:r>
              <a:t>Packet flow, protocol analysis or live demonstration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C757D"/>
                </a:solidFill>
              </a:defRPr>
            </a:pPr>
            <a:r>
              <a:t>09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6217920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64592" rIns="182880" bIns="137160" rtlCol="0" anchor="t"/>
          <a:lstStyle/>
          <a:p>
            <a:pPr algn="ctr">
              <a:spcAft>
                <a:spcPts val="800"/>
              </a:spcAft>
              <a:defRPr sz="1200" b="1">
                <a:solidFill>
                  <a:srgbClr val="0D6EFD"/>
                </a:solidFill>
              </a:defRPr>
            </a:pPr>
            <a:r>
              <a:rPr dirty="0"/>
              <a:t>LIVE DEMONSTRATION WORKFLOW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rPr dirty="0"/>
              <a:t>System Demonstration Architecture (Flask Web NOC at `http://127.0.0.1:5000`):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endParaRPr dirty="0"/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rPr dirty="0"/>
              <a:t>1. Baseline Topology Initialization: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rPr dirty="0"/>
              <a:t>  • Cytoscape.js renders 30 switches cleanly partitioned into 7 Hospital Campus Wards (Datacenter, ICU, ER, Radiology, Surgical, Outpatient, Admin).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rPr dirty="0"/>
              <a:t>  • Graph layout uses `</a:t>
            </a:r>
            <a:r>
              <a:rPr dirty="0" err="1"/>
              <a:t>fcose</a:t>
            </a:r>
            <a:r>
              <a:rPr dirty="0"/>
              <a:t>` compound layout to prevent clutter.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endParaRPr dirty="0"/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rPr dirty="0"/>
              <a:t>2. Real-Time Telemetry Inspection (Chart.js Drawer):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rPr dirty="0"/>
              <a:t>  • Click any node (e.g. Node 5) -&gt; </a:t>
            </a:r>
            <a:r>
              <a:rPr dirty="0" err="1"/>
              <a:t>Offcanvas</a:t>
            </a:r>
            <a:r>
              <a:rPr dirty="0"/>
              <a:t> drawer slides out.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rPr dirty="0"/>
              <a:t>  • Displays live 15-step time-series curves: Bandwidth Load %, Buffer Queue %, Packet Drop Rate (</a:t>
            </a:r>
            <a:r>
              <a:rPr dirty="0" err="1"/>
              <a:t>pps</a:t>
            </a:r>
            <a:r>
              <a:rPr dirty="0"/>
              <a:t>), and CRC Errors.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endParaRPr dirty="0"/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rPr dirty="0"/>
              <a:t>3. Interactive Fault Injection Panel: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rPr dirty="0"/>
              <a:t>  • Select Node 8 -&gt; Select 'Broadcast Storm' -&gt; Click 'Simulate Fault'.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rPr dirty="0"/>
              <a:t>  • Node 8 turns RED on the topology map within 1 polling cycle.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rPr dirty="0"/>
              <a:t>  • System generates actionable alert: 'Spanning-Tree Protocol failure detected. Implement MAC-level port isolation.'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endParaRPr dirty="0"/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rPr dirty="0"/>
              <a:t>4. Autonomous Closed-Loop Remediation: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rPr dirty="0"/>
              <a:t>  • Click 'Apply Fix' -&gt; Controller sends OpenFlow flow-mod intent.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rPr dirty="0"/>
              <a:t>  • Activity log records rule deployment; Node 8 turns GREEN instantly.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0" y="1371600"/>
            <a:ext cx="429768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64592" rIns="182880" bIns="137160" rtlCol="0" anchor="t"/>
          <a:lstStyle/>
          <a:p>
            <a:pPr algn="ctr">
              <a:spcAft>
                <a:spcPts val="800"/>
              </a:spcAft>
              <a:defRPr sz="1200" b="1">
                <a:solidFill>
                  <a:srgbClr val="0D6EFD"/>
                </a:solidFill>
              </a:defRPr>
            </a:pPr>
            <a:r>
              <a:t>WHAT THE EVIDENCE SHOWS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• True Closed-Loop Autonomy: Telemetry Perception -&gt; AI Cognition -&gt; SDN Action -&gt; Verification.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• Proves that automated flow rules heal network anomalies before clinical/academic services experience drops.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0" y="3566160"/>
            <a:ext cx="4297680" cy="2651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64592" rIns="182880" bIns="137160" rtlCol="0" anchor="t"/>
          <a:lstStyle/>
          <a:p>
            <a:pPr algn="ctr">
              <a:spcAft>
                <a:spcPts val="800"/>
              </a:spcAft>
              <a:defRPr sz="1200" b="1">
                <a:solidFill>
                  <a:srgbClr val="198754"/>
                </a:solidFill>
              </a:defRPr>
            </a:pPr>
            <a:r>
              <a:t>DEMO SCRIPT FOR EXAMINERS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Step 1: Open dashboard -&gt; Review 30 nodes &amp; campus ward partition.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Step 2: Click faulty Node 5 -&gt; Show ramping bandwidth chart (45% -&gt; 98.5%).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Step 3: Click 'Apply Fix' -&gt; Show recovery in activity log, node turns green.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Step 4: Use Simulation Panel to inject new fault on Node 18 -&gt; Verify instant AI detection.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D6EFD"/>
                </a:solidFill>
              </a:defRPr>
            </a:pPr>
            <a:r>
              <a:t>BCSE308L / BCSE308P • COMPUTER NETWORKS • FINAL COURSE PROJECT REVIEW</a:t>
            </a:r>
          </a:p>
          <a:p>
            <a:pPr>
              <a:spcBef>
                <a:spcPts val="400"/>
              </a:spcBef>
              <a:defRPr sz="2200" b="1">
                <a:solidFill>
                  <a:srgbClr val="212529"/>
                </a:solidFill>
              </a:defRPr>
            </a:pPr>
            <a:r>
              <a:t>Contribution, learning outcomes and CO mapping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C757D"/>
                </a:solidFill>
              </a:defRPr>
            </a:pPr>
            <a:r>
              <a:t>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120640" cy="1828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64592" rIns="182880" bIns="137160" rtlCol="0" anchor="t"/>
          <a:lstStyle/>
          <a:p>
            <a:pPr algn="ctr">
              <a:spcAft>
                <a:spcPts val="800"/>
              </a:spcAft>
              <a:defRPr sz="1200" b="1">
                <a:solidFill>
                  <a:srgbClr val="0D6EFD"/>
                </a:solidFill>
              </a:defRPr>
            </a:pPr>
            <a:r>
              <a:t>PROJECT CONTRIBUTION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• End-to-end closed-loop Digital Twin for enterprise campus networks.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• Novel Spatio-Temporal AI model (FTS-LSTM + MPNN) handling severe 98:2 class imbalance via Focal Loss.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• Enterprise Web NOC with interactive Cytoscape topology, Chart.js telemetry drawer, and live fault simulation.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371600"/>
            <a:ext cx="5120640" cy="1828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64592" rIns="182880" bIns="137160" rtlCol="0" anchor="t"/>
          <a:lstStyle/>
          <a:p>
            <a:pPr algn="ctr">
              <a:spcAft>
                <a:spcPts val="800"/>
              </a:spcAft>
              <a:defRPr sz="1200" b="1">
                <a:solidFill>
                  <a:srgbClr val="0D6EFD"/>
                </a:solidFill>
              </a:defRPr>
            </a:pPr>
            <a:r>
              <a:t>LIMITATIONS AND FUTURE WORK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• Physical Hardware Integration: Hooking controller to Mininet / P4 hardware switches.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• Multi-Agent Reinforcement Learning: Dynamic multi-hop flow balancing across redundant core rings.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• Security Expansion: Adding DDoS mitigation and rogue DHCP server quarantine.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918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/>
            </a:pPr>
            <a:r>
              <a:t>Course outcome mapping — BCSE308L / BCSE308P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3657600"/>
          <a:ext cx="106984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12064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</a:defRPr>
                      </a:pPr>
                      <a:r>
                        <a:t>Course Outcome</a:t>
                      </a:r>
                    </a:p>
                  </a:txBody>
                  <a:tcPr anchor="ctr">
                    <a:solidFill>
                      <a:srgbClr val="0F22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</a:defRPr>
                      </a:pPr>
                      <a:r>
                        <a:t>Project Evidence</a:t>
                      </a:r>
                    </a:p>
                  </a:txBody>
                  <a:tcPr anchor="ctr">
                    <a:solidFill>
                      <a:srgbClr val="0F22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</a:defRPr>
                      </a:pPr>
                      <a:r>
                        <a:t>Member Contribution</a:t>
                      </a:r>
                    </a:p>
                  </a:txBody>
                  <a:tcPr anchor="ctr">
                    <a:solidFill>
                      <a:srgbClr val="0F22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</a:defRPr>
                      </a:pPr>
                      <a:r>
                        <a:t>Evidence Location</a:t>
                      </a:r>
                    </a:p>
                  </a:txBody>
                  <a:tcPr anchor="ctr">
                    <a:solidFill>
                      <a:srgbClr val="0F22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CO1: Analyze network architectures, layering &amp; topologies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Designed 3-tier hierarchical campus network with 30 nodes &amp; 7 zones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Parth Kashyap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models/, templates/index.html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CO2: Evaluate routing algorithms &amp; congestion management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Engineered dynamic QoS rerouting and uplink traffic shaping policies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Parth Kashyap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sdn_controller/, app.py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CO3: Analyze network protocols (STP, OpenFlow, TCP/IP)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Modeled STP loop failures, buffer queuing, and OpenFlow flow-mods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Parth Kashyap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dataset_generator.py, app.py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CO4: Design &amp; implement network software &amp; monitoring tools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Developed full-stack Digital Twin Web NOC with live telemetry charts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Parth Kashyap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app.py, templates/index.html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D6EFD"/>
                </a:solidFill>
              </a:defRPr>
            </a:pPr>
            <a:r>
              <a:t>BCSE308L / BCSE308P • COMPUTER NETWORKS • FINAL COURSE PROJECT REVIEW</a:t>
            </a:r>
          </a:p>
          <a:p>
            <a:pPr>
              <a:spcBef>
                <a:spcPts val="400"/>
              </a:spcBef>
              <a:defRPr sz="2200" b="1">
                <a:solidFill>
                  <a:srgbClr val="212529"/>
                </a:solidFill>
              </a:defRPr>
            </a:pPr>
            <a:r>
              <a:t>Team contribution and project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C757D"/>
                </a:solidFill>
              </a:defRPr>
            </a:pPr>
            <a: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/>
            </a:pPr>
            <a:r>
              <a:t>Individual accountability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645920"/>
          <a:ext cx="1069848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822960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</a:defRPr>
                      </a:pPr>
                      <a:r>
                        <a:t>Member / ID</a:t>
                      </a:r>
                    </a:p>
                  </a:txBody>
                  <a:tcPr anchor="ctr">
                    <a:solidFill>
                      <a:srgbClr val="0F22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</a:defRPr>
                      </a:pPr>
                      <a:r>
                        <a:t>Responsibility</a:t>
                      </a:r>
                    </a:p>
                  </a:txBody>
                  <a:tcPr anchor="ctr">
                    <a:solidFill>
                      <a:srgbClr val="0F22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</a:defRPr>
                      </a:pPr>
                      <a:r>
                        <a:t>Work Completed / Evidence</a:t>
                      </a:r>
                    </a:p>
                  </a:txBody>
                  <a:tcPr anchor="ctr">
                    <a:solidFill>
                      <a:srgbClr val="0F22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</a:defRPr>
                      </a:pPr>
                      <a:r>
                        <a:t>Contribution (%)</a:t>
                      </a:r>
                    </a:p>
                  </a:txBody>
                  <a:tcPr anchor="ctr">
                    <a:solidFill>
                      <a:srgbClr val="0F22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Parth Kashyap</a:t>
                      </a:r>
                      <a:br/>
                      <a:r>
                        <a:t>[Reg No: Placeholder]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System Architecture, AI Model Design, SDN Remediation &amp; Web NOC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End-to-end implementation of FTS-LSTM, MPNN, Focal Loss, Flask REST API &amp; Cytoscape Dashboard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31520" y="3657600"/>
            <a:ext cx="5120640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64592" rIns="182880" bIns="137160" rtlCol="0" anchor="t"/>
          <a:lstStyle/>
          <a:p>
            <a:pPr algn="ctr">
              <a:spcAft>
                <a:spcPts val="800"/>
              </a:spcAft>
              <a:defRPr sz="1200" b="1">
                <a:solidFill>
                  <a:srgbClr val="0D6EFD"/>
                </a:solidFill>
              </a:defRPr>
            </a:pPr>
            <a:r>
              <a:t>MILESTONES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• M1 (Week 2): Problem formulation &amp; campus network architecture design [COMPLETED]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• M2 (Week 4): Telemetry dataset generation with injected physics faults [COMPLETED]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• M3 (Week 6): FTS-LSTM + MPNN model development &amp; Focal Loss tuning [COMPLETED]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• M4 (Week 8): SDN Controller client &amp; OpenFlow rule generator [COMPLETED]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• M5 (Week 10): Interactive Digital Twin Web NOC with telemetry charts [COMPLETED]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3657600"/>
            <a:ext cx="5120640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64592" rIns="182880" bIns="137160" rtlCol="0" anchor="t"/>
          <a:lstStyle/>
          <a:p>
            <a:pPr algn="ctr">
              <a:spcAft>
                <a:spcPts val="800"/>
              </a:spcAft>
              <a:defRPr sz="1200" b="1">
                <a:solidFill>
                  <a:srgbClr val="0D6EFD"/>
                </a:solidFill>
              </a:defRPr>
            </a:pPr>
            <a:r>
              <a:t>REPOSITORY / REFERENCES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• Project Codebase: `c:\Users\Parth Kashyap\Desktop\cn`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• AI Core: `models/hybrid_predictor.py`, `models/fts_lstm.py`, `models/mpnn.py`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• Web Dashboard: `app.py`, `templates/index.html`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• Dataset: `data/campus_dataset.pt` (30 nodes, 58 edges, 15 time steps)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• Demo URL: `http://127.0.0.1:5000`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D6EFD"/>
                </a:solidFill>
              </a:defRPr>
            </a:pPr>
            <a:r>
              <a:t>BCSE308L / BCSE308P • COMPUTER NETWORKS • FINAL COURSE PROJECT REVIEW</a:t>
            </a:r>
          </a:p>
          <a:p>
            <a:pPr>
              <a:spcBef>
                <a:spcPts val="400"/>
              </a:spcBef>
              <a:defRPr sz="2200" b="1">
                <a:solidFill>
                  <a:srgbClr val="212529"/>
                </a:solidFill>
              </a:defRPr>
            </a:pPr>
            <a:r>
              <a:t>Conclusion and key 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C757D"/>
                </a:solidFill>
              </a:defRPr>
            </a:pPr>
            <a:r>
              <a:t>12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12064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64592" rIns="182880" bIns="137160" rtlCol="0" anchor="t"/>
          <a:lstStyle/>
          <a:p>
            <a:pPr algn="ctr">
              <a:spcAft>
                <a:spcPts val="800"/>
              </a:spcAft>
              <a:defRPr sz="1200" b="1">
                <a:solidFill>
                  <a:srgbClr val="198754"/>
                </a:solidFill>
              </a:defRPr>
            </a:pPr>
            <a:r>
              <a:t>WHAT WAS ACHIEVED?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• Successfully developed an AI-Driven Digital Twin that shifts network management from reactive firefighting to proactive prevention.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• Predicted complex network failures 15-30 seconds early with 94.6% accuracy.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• Automated closed-loop SDN remediation executed in 320ms, cutting MTTR by ~95% compared to manual operator intervention.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371600"/>
            <a:ext cx="512064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64592" rIns="182880" bIns="137160" rtlCol="0" anchor="t"/>
          <a:lstStyle/>
          <a:p>
            <a:pPr algn="ctr">
              <a:spcAft>
                <a:spcPts val="800"/>
              </a:spcAft>
              <a:defRPr sz="1200" b="1">
                <a:solidFill>
                  <a:srgbClr val="0D6EFD"/>
                </a:solidFill>
              </a:defRPr>
            </a:pPr>
            <a:r>
              <a:t>WHAT DID YOU LEARN?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• Graph Neural Networks (MPNN) are essential for networks because failures cascade across physical physical cabling topologies.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• Focal Loss is mandatory for network telemetry to conquer the 98:2 class imbalance where standard cross-entropy fails.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• SDN intent decoupling provides safe, millisecond-level automated remediation.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749039"/>
            <a:ext cx="512064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64592" rIns="182880" bIns="137160" rtlCol="0" anchor="t"/>
          <a:lstStyle/>
          <a:p>
            <a:pPr algn="ctr">
              <a:spcAft>
                <a:spcPts val="800"/>
              </a:spcAft>
              <a:defRPr sz="1200" b="1">
                <a:solidFill>
                  <a:srgbClr val="0D6EFD"/>
                </a:solidFill>
              </a:defRPr>
            </a:pPr>
            <a:r>
              <a:t>LIMITATIONS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• Tested on physics-based synthetic telemetry generation.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• Currently uses pre-defined OpenFlow remediation policies rather than dynamic multi-path reinforcement learning.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3749039"/>
            <a:ext cx="512064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64592" rIns="182880" bIns="137160" rtlCol="0" anchor="t"/>
          <a:lstStyle/>
          <a:p>
            <a:pPr algn="ctr">
              <a:spcAft>
                <a:spcPts val="800"/>
              </a:spcAft>
              <a:defRPr sz="1200" b="1">
                <a:solidFill>
                  <a:srgbClr val="0D6EFD"/>
                </a:solidFill>
              </a:defRPr>
            </a:pPr>
            <a:r>
              <a:t>NEXT STEPS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• Hardware deployment using Mininet / Open vSwitch (OVS) running in Docker containers.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• In-band Network Telemetry (INT) P4 switch integration for sub-millisecond hardware telemetry.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• Multi-agent RL for dynamic traffic engineering across multi-campus backbones.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0D6EFD"/>
                </a:solidFill>
              </a:defRPr>
            </a:pPr>
            <a:r>
              <a:t>Thank you • Questions &amp; Discussion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D6EFD"/>
                </a:solidFill>
              </a:defRPr>
            </a:pPr>
            <a:r>
              <a:t>BCSE308L / BCSE308P • COMPUTER NETWORKS • FINAL COURSE PROJECT REVIEW</a:t>
            </a:r>
          </a:p>
          <a:p>
            <a:pPr>
              <a:spcBef>
                <a:spcPts val="400"/>
              </a:spcBef>
              <a:defRPr sz="2200" b="1">
                <a:solidFill>
                  <a:srgbClr val="212529"/>
                </a:solidFill>
              </a:defRPr>
            </a:pPr>
            <a:r>
              <a:t>References and supporting material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C757D"/>
                </a:solidFill>
              </a:defRPr>
            </a:pPr>
            <a:r>
              <a:t>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621792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64592" rIns="182880" bIns="137160" rtlCol="0" anchor="t"/>
          <a:lstStyle/>
          <a:p>
            <a:pPr algn="ctr">
              <a:spcAft>
                <a:spcPts val="800"/>
              </a:spcAft>
              <a:defRPr sz="1200" b="1">
                <a:solidFill>
                  <a:srgbClr val="0D6EFD"/>
                </a:solidFill>
              </a:defRPr>
            </a:pPr>
            <a:r>
              <a:t>ACADEMIC &amp; TECHNICAL REFERENCES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[1] McKeown, N., et al., 'OpenFlow: Enabling innovation in campus networks,' ACM SIGCOMM Computer Communication Review, 2008.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endParaRPr/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[2] Kipf, T. N., &amp; Welling, M., 'Semi-Supervised Classification with Graph Convolutional Networks,' ICLR, 2017.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endParaRPr/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[3] Lin, T. Y., Goyal, P., Girshick, R., He, K., &amp; Dollár, P., 'Focal Loss for Dense Object Detection,' IEEE ICCV, 2017.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endParaRPr/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[4] Al-Fuqaha, A., et al., 'Digital Twins for Autonomous Network Management: Architecture and Enablers,' IEEE Communications Surveys &amp; Tutorials, 2023.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endParaRPr/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[5] RFC 7348: 'Virtual eXtensible Local Area Network (VXLAN): A Framework for Overlaying Virtualized Layer 2 Networks over Layer 3 Networks,' IETF, 2014.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endParaRPr/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[6] Cisco Systems, 'Enterprise Campus 3.0 Architecture: High Availability Configuration Guide,' Cisco Press, 2021.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0" y="1371600"/>
            <a:ext cx="429768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64592" rIns="182880" bIns="137160" rtlCol="0" anchor="t"/>
          <a:lstStyle/>
          <a:p>
            <a:pPr algn="ctr">
              <a:spcAft>
                <a:spcPts val="800"/>
              </a:spcAft>
              <a:defRPr sz="1200" b="1">
                <a:solidFill>
                  <a:srgbClr val="0D6EFD"/>
                </a:solidFill>
              </a:defRPr>
            </a:pPr>
            <a:r>
              <a:t>APPENDIX / REPOSITORY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• Code Repository: C:\Users\Parth Kashyap\Desktop\cn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• PyTorch Models: `models/hybrid_predictor.py`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• Dashboard UI: `templates/index.html`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• SDN Controller: `sdn_controller/sdn_remediation_controller.py`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0" y="3749039"/>
            <a:ext cx="4297680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64592" rIns="182880" bIns="137160" rtlCol="0" anchor="t"/>
          <a:lstStyle/>
          <a:p>
            <a:pPr algn="ctr">
              <a:spcAft>
                <a:spcPts val="800"/>
              </a:spcAft>
              <a:defRPr sz="1200" b="1">
                <a:solidFill>
                  <a:srgbClr val="198754"/>
                </a:solidFill>
              </a:defRPr>
            </a:pPr>
            <a:r>
              <a:t>FINAL REVIEW CHECKLIST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[x] All quantitative results measured and verified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[x] Key individual contributions documented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[x] High-resolution architecture &amp; UI evidence provided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[x] All academic and industry RFC references verified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[x] Zero sensitive credentials or PII data exposed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6984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QUESTIONS &amp; DISCUSSION</a:t>
            </a:r>
          </a:p>
          <a:p>
            <a:pPr>
              <a:spcBef>
                <a:spcPts val="800"/>
              </a:spcBef>
              <a:defRPr sz="1600">
                <a:solidFill>
                  <a:srgbClr val="14B8A6"/>
                </a:solidFill>
              </a:defRPr>
            </a:pPr>
            <a:r>
              <a:t>Be ready to explain your design choices and evidence.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560320"/>
            <a:ext cx="10698480" cy="3566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64592" rIns="182880" bIns="137160" rtlCol="0" anchor="t"/>
          <a:lstStyle/>
          <a:p>
            <a:pPr algn="ctr">
              <a:spcAft>
                <a:spcPts val="800"/>
              </a:spcAft>
              <a:defRPr sz="1200" b="1">
                <a:solidFill>
                  <a:srgbClr val="0D6EFD"/>
                </a:solidFill>
              </a:defRPr>
            </a:pPr>
            <a:r>
              <a:t>BACKUP TECHNICAL DETAILS: FTS-LSTM &amp; MPNN MATHEMATICAL FORMULATION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1. FTS-LSTM (Feature-Temporal Squeeze LSTM):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   • Input X_v in R^(T x F) per node v (T=15 time steps, F=5 telemetry metrics).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   • Squeeze operation computes temporal attention weights: a_t = softmax(W_a * tanh(W_t * x_t + b_t)).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   • Encoded temporal node embedding: h_v^(0) = sum_{t=1}^T a_t * LSTM(x_t).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endParaRPr/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2. MPNN (Message Passing Neural Network) Spatial Propagation: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   • Message aggregation across network graph edges e_(u,v):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     m_v^(k) = sum_{u in N(v)} M_k(h_v^(k-1), h_u^(k-1), e_(u,v))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   • Node state update: h_v^(k) = U_k(h_v^(k-1), m_v^(k)).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   • Final classification: y_hat_v = Softmax(W_c * h_v^(K) + b_c) over 6 network fault classes.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endParaRPr/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3. OpenFlow Flow-Mod Specification for Autonomous Remediation: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   • Congestion: OFPFC_MODIFY action with SET_QUEUE (QoS queue id: 2) on alternate physical port.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</a:defRPr>
            </a:pPr>
            <a:r>
              <a:t>   • Broadcast Storm: OFPFC_ADD high-priority drop rule matching DL_TYPE=0x0806 (ARP) on rogue ingress port.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3720</Words>
  <Application>Microsoft Office PowerPoint</Application>
  <PresentationFormat>Widescreen</PresentationFormat>
  <Paragraphs>375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Parth Kashyap</cp:lastModifiedBy>
  <cp:revision>2</cp:revision>
  <dcterms:created xsi:type="dcterms:W3CDTF">2013-01-27T09:14:16Z</dcterms:created>
  <dcterms:modified xsi:type="dcterms:W3CDTF">2026-10-27T18:44:01Z</dcterms:modified>
  <cp:category/>
</cp:coreProperties>
</file>